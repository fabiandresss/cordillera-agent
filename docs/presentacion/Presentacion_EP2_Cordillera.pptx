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73" r:id="rId23"/>
  </p:sldIdLst>
  <p:sldSz cx="18288000" cy="10287000"/>
  <p:notesSz cx="6858000" cy="9144000"/>
  <p:embeddedFontLst>
    <p:embeddedFont>
      <p:font typeface="Poppins" charset="1" panose="00000500000000000000"/>
      <p:regular r:id="rId24"/>
    </p:embeddedFont>
    <p:embeddedFont>
      <p:font typeface="Poppins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Similitud (%)</c:v>
                </c:pt>
              </c:strCache>
            </c:strRef>
          </c:tx>
          <c:dPt>
            <c:idx val="0"/>
            <c:spPr>
              <a:solidFill>
                <a:srgbClr val="E5AE38"/>
              </a:solidFill>
            </c:spPr>
          </c:dPt>
          <c:dPt>
            <c:idx val="1"/>
            <c:spPr>
              <a:solidFill>
                <a:srgbClr val="E5AE38"/>
              </a:solidFill>
            </c:spPr>
          </c:dPt>
          <c:dPt>
            <c:idx val="2"/>
            <c:spPr>
              <a:solidFill>
                <a:srgbClr val="E5AE38"/>
              </a:solidFill>
            </c:spPr>
          </c:dPt>
          <c:dPt>
            <c:idx val="3"/>
            <c:spPr>
              <a:solidFill>
                <a:srgbClr val="C9C9C9"/>
              </a:solidFill>
            </c:spPr>
          </c:dPt>
          <c:cat>
            <c:strRef>
              <c:f>Sheet1!$A$2:$A$5</c:f>
              <c:strCache>
                <c:ptCount val="4"/>
                <c:pt idx="0">
                  <c:v>Cliente ausente en el pedido 8</c:v>
                </c:pt>
                <c:pt idx="1">
                  <c:v>Camión 3 averiado en zona norte</c:v>
                </c:pt>
                <c:pt idx="2">
                  <c:v>Se me rompió una rueda</c:v>
                </c:pt>
                <c:pt idx="3">
                  <c:v>Texto sin relación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72</c:v>
                </c:pt>
                <c:pt idx="2">
                  <c:v>67</c:v>
                </c:pt>
                <c:pt idx="3">
                  <c:v>54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2000" b="1">
                  <a:latin typeface="Poppins 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B1B1B"/>
          </a:solidFill>
          <a:latin typeface="Poppi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Fabián Armijo (≈ 20 s). Nos presentamos y decimos de qué trata el proyecto en una frase: «Es un agente de inteligencia artificial que ayuda a organizar el reparto diario de una empresa de transporte, y cambia su plan cuando algo sale mal».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Fabián (≈ 40 s). Problema: en Transportes Cordillera, ficticia, los pedidos se asignan a mano y cualquier imprevisto descuadra el día. Propuesta: un agente que entiende mensajes simples y cambia el plan. Aclarar que todos los datos son inventados.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Fabián (≈ 40 s). Seguir el dibujo de arriba hacia abajo: la persona usa un panel web, el panel habla con una API, y la API entrega el mensaje al agente. El agente usa herramientas para consultar y escribir, una memoria y un modelo de lenguaje. Mencionar que el modelo se puede cambiar: Groq en la nube, Ollama en el computador o modo sin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Fabián (≈ 40 s). El mensaje pasa por pasos: entender, recordar, decidir, planificar, revisar y ejecutar. En el camino hay decisiones: si falta un dato lo pregunta, si no entiende avisa a un supervisor, y si el plan no cumple las reglas intenta corregirlo hasta tres veces. Idea fuerza: las decisiones importantes las toman reglas verificables, no la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Compañero/a (≈ 30 s). Hay tres tipos de herramientas: las que consultan datos, las que escriben (asignar, crear hojas de ruta, avisar) y las que ayudan a razonar. Ejemplo concreto: asignar entregas falla si el camión no soporta el peso.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Compañero/a (≈ 40 s). Memoria corta: lo que pasó hoy, y sigue disponible si se reinicia. Con tres cambios en el día el agente avisa que la jornada está inestable. Memoria larga: busca casos pasados por significado. En el gráfico: mensajes parecidos a casos reales superan el 60 %; un texto sin relación queda en 54 % y se descarta. Por eso el umbral es 60 %.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Compañero/a (≈ 40 s). Cada pedido recibe un puntaje de urgencia que sube si el cliente es VIP, si tiene prioridad alta o si queda poco tiempo. A la derecha, qué hace el agente en cada situación. Remarcar: en la entrega fallida no insiste: al segundo intento pasa el caso a un supervisor.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PRESENTAN: los dos (≈ 2 min). Abrir el panel en http://127.0.0.1:8000 (ya iniciado con python -m uvicorn api.main:app --port 8000). Orden: 1) «Inicio de jornada». 2) «Avería camión 3»: mostrar que el camión queda en rojo y el razonamiento paso a paso. 3) «VIP urgente». 4) «Entrega fallida» y luego «Segundo fallo». 5) «Evento ambiguo». Si falla internet o Groq: el modo «Reglas» funciona sin conexión. Plan B: video de respaldo.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Compañero/a (≈ 30 s). Datos clave: 57 pruebas automáticas que pasan, 9 escenarios con evidencia guardada en el repositorio, más de veinte herramientas y costo cero. Los tres resultados de la tabla salen de los escenarios del repositorio (carpeta docs/evidencia).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Fabián (≈ 40 s). Prueba real con el modelo pequeño que corre en el computador (Qwen2.5 de 1,5 mil millones de parámetros): confundió «cliente ausente» con «inicio de jornada», lo que habría replanificado todo el día. Lo corregimos con tres medidas y cada una tiene una prueba automática. Esto justifica que las decisiones críticas las tomen reglas y no la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PRESENTAN: los dos (≈ 40 s). Cada integrante explica con sus propias palabras por qué eligió su parte, apoyándose en el dato de la columna derecha. Preguntas probables: ¿por qué no dejar todo a la IA? (hallazgo); ¿qué pasa si falla internet? (modo Ollama o reglas); ¿cómo se evita que invente un camión? (se valida contra la base de datos); ¿cómo escala? (más camiones = más datos, mismo flujo).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Compañero/a (≈ 20 s). Ser honestos con los límites: es un ejercicio con datos inventados. Los próximos pasos son conectar mapas y mensajes reales y probar con datos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PRESENTAN: los dos (≈ 10 s). Agradecer y abrir la ronda de preguntas (10 minutos). Tener abierto el repositorio y el panel por si piden mostrar código o el razonamiento paso a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sv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jpg"/><Relationship Id="rId4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49892" y="1580904"/>
            <a:ext cx="7009408" cy="7125193"/>
          </a:xfrm>
          <a:custGeom>
            <a:avLst/>
            <a:gdLst/>
            <a:ahLst/>
            <a:cxnLst/>
            <a:rect r="r" b="b" t="t" l="l"/>
            <a:pathLst>
              <a:path h="7125193" w="7009408">
                <a:moveTo>
                  <a:pt x="0" y="0"/>
                </a:moveTo>
                <a:lnTo>
                  <a:pt x="7009408" y="0"/>
                </a:lnTo>
                <a:lnTo>
                  <a:pt x="7009408" y="7125192"/>
                </a:lnTo>
                <a:lnTo>
                  <a:pt x="0" y="7125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508907"/>
            <a:ext cx="91440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600" spc="-118">
                <a:solidFill>
                  <a:srgbClr val="1B1B1B"/>
                </a:solidFill>
                <a:latin typeface="Poppins"/>
                <a:ea typeface="Poppins"/>
                <a:cs typeface="Poppins"/>
                <a:sym typeface="Poppins"/>
              </a:rPr>
              <a:t>Transportes Cordillera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379553"/>
            <a:ext cx="877824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3">
                <a:solidFill>
                  <a:srgbClr val="1B1B1B"/>
                </a:solidFill>
                <a:latin typeface="Poppins"/>
                <a:ea typeface="Poppins"/>
                <a:cs typeface="Poppins"/>
                <a:sym typeface="Poppins"/>
              </a:rPr>
              <a:t>Integrantes: Fabián Armijo y [Nombre del segundo integrante]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spc="-53">
                <a:solidFill>
                  <a:srgbClr val="1B1B1B"/>
                </a:solidFill>
                <a:latin typeface="Poppins"/>
                <a:ea typeface="Poppins"/>
                <a:cs typeface="Poppins"/>
                <a:sym typeface="Poppins"/>
              </a:rPr>
              <a:t>Docente: [Nombre del docente]</a:t>
            </a: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797300"/>
            <a:ext cx="2836859" cy="365438"/>
            <a:chOff x="0" y="0"/>
            <a:chExt cx="3782479" cy="48725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87251" cy="48725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B1B1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44534" y="46775"/>
              <a:ext cx="3137945" cy="37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spc="-53">
                  <a:solidFill>
                    <a:srgbClr val="1B1B1B"/>
                  </a:solidFill>
                  <a:latin typeface="Poppins"/>
                  <a:ea typeface="Poppins"/>
                  <a:cs typeface="Poppins"/>
                  <a:sym typeface="Poppins"/>
                </a:rPr>
                <a:t>Ingeniería de Soluciones con IA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445792"/>
            <a:ext cx="9931139" cy="389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5"/>
              </a:lnSpc>
            </a:pPr>
            <a:r>
              <a:rPr lang="en-US" sz="8800" spc="-747" b="true">
                <a:solidFill>
                  <a:srgbClr val="1B1B1B"/>
                </a:solidFill>
                <a:latin typeface="Poppins Bold"/>
                <a:ea typeface="Poppins Bold"/>
                <a:cs typeface="Poppins Bold"/>
                <a:sym typeface="Poppins Bold"/>
              </a:rPr>
              <a:t>Agente de despacho y rutas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023292" y="565901"/>
            <a:ext cx="1832950" cy="462799"/>
          </a:xfrm>
          <a:custGeom>
            <a:avLst/>
            <a:gdLst/>
            <a:ahLst/>
            <a:cxnLst/>
            <a:rect r="r" b="b" t="t" l="l"/>
            <a:pathLst>
              <a:path h="462799" w="1832950">
                <a:moveTo>
                  <a:pt x="0" y="0"/>
                </a:moveTo>
                <a:lnTo>
                  <a:pt x="1832950" y="0"/>
                </a:lnTo>
                <a:lnTo>
                  <a:pt x="1832950" y="462799"/>
                </a:lnTo>
                <a:lnTo>
                  <a:pt x="0" y="462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43082" y="1028700"/>
            <a:ext cx="6316218" cy="8229600"/>
          </a:xfrm>
          <a:custGeom>
            <a:avLst/>
            <a:gdLst/>
            <a:ahLst/>
            <a:cxnLst/>
            <a:rect r="r" b="b" t="t" l="l"/>
            <a:pathLst>
              <a:path h="8229600" w="6316218">
                <a:moveTo>
                  <a:pt x="0" y="0"/>
                </a:moveTo>
                <a:lnTo>
                  <a:pt x="6316218" y="0"/>
                </a:lnTo>
                <a:lnTo>
                  <a:pt x="631621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54548" y="4072754"/>
            <a:ext cx="9144000" cy="2293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60"/>
              </a:lnSpc>
            </a:pPr>
            <a:r>
              <a:rPr lang="en-US" sz="16060" spc="-1092">
                <a:solidFill>
                  <a:srgbClr val="1B1B1B"/>
                </a:solidFill>
                <a:latin typeface="Poppins"/>
                <a:ea typeface="Poppins"/>
                <a:cs typeface="Poppins"/>
                <a:sym typeface="Poppins"/>
              </a:rPr>
              <a:t>¡Gracias!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041653" y="8851006"/>
            <a:ext cx="814589" cy="814589"/>
          </a:xfrm>
          <a:custGeom>
            <a:avLst/>
            <a:gdLst/>
            <a:ahLst/>
            <a:cxnLst/>
            <a:rect r="r" b="b" t="t" l="l"/>
            <a:pathLst>
              <a:path h="814589" w="814589">
                <a:moveTo>
                  <a:pt x="0" y="0"/>
                </a:moveTo>
                <a:lnTo>
                  <a:pt x="814589" y="0"/>
                </a:lnTo>
                <a:lnTo>
                  <a:pt x="814589" y="814588"/>
                </a:lnTo>
                <a:lnTo>
                  <a:pt x="0" y="814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23292" y="565901"/>
            <a:ext cx="1832950" cy="462799"/>
          </a:xfrm>
          <a:custGeom>
            <a:avLst/>
            <a:gdLst/>
            <a:ahLst/>
            <a:cxnLst/>
            <a:rect r="r" b="b" t="t" l="l"/>
            <a:pathLst>
              <a:path h="462799" w="1832950">
                <a:moveTo>
                  <a:pt x="0" y="0"/>
                </a:moveTo>
                <a:lnTo>
                  <a:pt x="1832950" y="0"/>
                </a:lnTo>
                <a:lnTo>
                  <a:pt x="1832950" y="462799"/>
                </a:lnTo>
                <a:lnTo>
                  <a:pt x="0" y="462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1252728" y="694944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4400">
                <a:solidFill>
                  <a:srgbClr val="1B1B1B"/>
                </a:solidFill>
                <a:latin typeface="Poppins Bold"/>
              </a:rPr>
              <a:t>¿Preguntas?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023292" y="565901"/>
            <a:ext cx="1832950" cy="462799"/>
          </a:xfrm>
          <a:custGeom>
            <a:avLst/>
            <a:gdLst/>
            <a:ahLst/>
            <a:cxnLst/>
            <a:rect r="r" b="b" t="t" l="l"/>
            <a:pathLst>
              <a:path h="462799" w="1832950">
                <a:moveTo>
                  <a:pt x="0" y="0"/>
                </a:moveTo>
                <a:lnTo>
                  <a:pt x="1832950" y="0"/>
                </a:lnTo>
                <a:lnTo>
                  <a:pt x="1832950" y="462799"/>
                </a:lnTo>
                <a:lnTo>
                  <a:pt x="0" y="462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ítulo"/>
          <p:cNvSpPr txBox="1"/>
          <p:nvPr/>
        </p:nvSpPr>
        <p:spPr>
          <a:xfrm>
            <a:off x="2194560" y="713232"/>
            <a:ext cx="137160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sz="5000">
                <a:solidFill>
                  <a:srgbClr val="1B1B1B"/>
                </a:solidFill>
                <a:latin typeface="Poppins Bold"/>
              </a:rPr>
              <a:t>El proyecto en síntesis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2468880"/>
            <a:ext cx="768096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2743200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3400">
                <a:solidFill>
                  <a:srgbClr val="E5AE38"/>
                </a:solidFill>
                <a:latin typeface="Poppins Bold"/>
              </a:rPr>
              <a:t>Nuestro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3657600"/>
            <a:ext cx="68580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77190" indent="-377190">
              <a:lnSpc>
                <a:spcPct val="112000"/>
              </a:lnSpc>
              <a:spcAft>
                <a:spcPts val="1600"/>
              </a:spcAft>
              <a:buFont typeface="Arial"/>
              <a:buChar char="•"/>
            </a:pPr>
            <a:r>
              <a:rPr b="0" sz="2700">
                <a:solidFill>
                  <a:srgbClr val="1B1B1B"/>
                </a:solidFill>
                <a:latin typeface="Poppins"/>
              </a:rPr>
              <a:t>Los pedidos se asignan </a:t>
            </a:r>
            <a:r>
              <a:rPr b="1" sz="2700">
                <a:solidFill>
                  <a:srgbClr val="1B1B1B"/>
                </a:solidFill>
                <a:latin typeface="Poppins Bold"/>
              </a:rPr>
              <a:t>a mano</a:t>
            </a:r>
            <a:r>
              <a:rPr b="0" sz="2700">
                <a:solidFill>
                  <a:srgbClr val="1B1B1B"/>
                </a:solidFill>
                <a:latin typeface="Poppins"/>
              </a:rPr>
              <a:t> a los camiones.</a:t>
            </a:r>
          </a:p>
          <a:p>
            <a:pPr algn="l" marL="377190" indent="-377190">
              <a:lnSpc>
                <a:spcPct val="112000"/>
              </a:lnSpc>
              <a:spcAft>
                <a:spcPts val="1600"/>
              </a:spcAft>
              <a:buFont typeface="Arial"/>
              <a:buChar char="•"/>
            </a:pPr>
            <a:r>
              <a:rPr b="0" sz="2700">
                <a:solidFill>
                  <a:srgbClr val="1B1B1B"/>
                </a:solidFill>
                <a:latin typeface="Poppins"/>
              </a:rPr>
              <a:t>Una avería, un cliente VIP urgente o una entrega fallida </a:t>
            </a:r>
            <a:r>
              <a:rPr b="1" sz="2700">
                <a:solidFill>
                  <a:srgbClr val="1B1B1B"/>
                </a:solidFill>
                <a:latin typeface="Poppins Bold"/>
              </a:rPr>
              <a:t>descuadran el día</a:t>
            </a:r>
            <a:r>
              <a:rPr b="0" sz="2700">
                <a:solidFill>
                  <a:srgbClr val="1B1B1B"/>
                </a:solidFill>
                <a:latin typeface="Poppins"/>
              </a:rPr>
              <a:t>.</a:t>
            </a:r>
          </a:p>
          <a:p>
            <a:pPr algn="l" marL="377190" indent="-377190">
              <a:lnSpc>
                <a:spcPct val="112000"/>
              </a:lnSpc>
              <a:spcAft>
                <a:spcPts val="1600"/>
              </a:spcAft>
              <a:buFont typeface="Arial"/>
              <a:buChar char="•"/>
            </a:pPr>
            <a:r>
              <a:rPr b="0" sz="2700">
                <a:solidFill>
                  <a:srgbClr val="1B1B1B"/>
                </a:solidFill>
                <a:latin typeface="Poppins"/>
              </a:rPr>
              <a:t>Se pierde el contexto y los clientes </a:t>
            </a:r>
            <a:r>
              <a:rPr b="1" sz="2700">
                <a:solidFill>
                  <a:srgbClr val="1B1B1B"/>
                </a:solidFill>
                <a:latin typeface="Poppins Bold"/>
              </a:rPr>
              <a:t>no reciben avisos</a:t>
            </a:r>
            <a:r>
              <a:rPr b="0" sz="2700">
                <a:solidFill>
                  <a:srgbClr val="1B1B1B"/>
                </a:solidFill>
                <a:latin typeface="Poppins"/>
              </a:rPr>
              <a:t> a tiempo.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2468880"/>
            <a:ext cx="768096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0"/>
            <a:ext cx="6858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3400">
                <a:solidFill>
                  <a:srgbClr val="E5AE38"/>
                </a:solidFill>
                <a:latin typeface="Poppins Bold"/>
              </a:rPr>
              <a:t>Nuestra propuesta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3657600"/>
            <a:ext cx="68580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77190" indent="-377190">
              <a:lnSpc>
                <a:spcPct val="112000"/>
              </a:lnSpc>
              <a:spcAft>
                <a:spcPts val="1600"/>
              </a:spcAft>
              <a:buFont typeface="Arial"/>
              <a:buChar char="•"/>
            </a:pPr>
            <a:r>
              <a:rPr b="0" sz="2700">
                <a:solidFill>
                  <a:srgbClr val="1B1B1B"/>
                </a:solidFill>
                <a:latin typeface="Poppins"/>
              </a:rPr>
              <a:t>Un agente de IA que </a:t>
            </a:r>
            <a:r>
              <a:rPr b="1" sz="2700">
                <a:solidFill>
                  <a:srgbClr val="1B1B1B"/>
                </a:solidFill>
                <a:latin typeface="Poppins Bold"/>
              </a:rPr>
              <a:t>entiende mensajes</a:t>
            </a:r>
            <a:r>
              <a:rPr b="0" sz="2700">
                <a:solidFill>
                  <a:srgbClr val="1B1B1B"/>
                </a:solidFill>
                <a:latin typeface="Poppins"/>
              </a:rPr>
              <a:t> escritos con palabras normales.</a:t>
            </a:r>
          </a:p>
          <a:p>
            <a:pPr algn="l" marL="377190" indent="-377190">
              <a:lnSpc>
                <a:spcPct val="112000"/>
              </a:lnSpc>
              <a:spcAft>
                <a:spcPts val="1600"/>
              </a:spcAft>
              <a:buFont typeface="Arial"/>
              <a:buChar char="•"/>
            </a:pPr>
            <a:r>
              <a:rPr b="1" sz="2700">
                <a:solidFill>
                  <a:srgbClr val="1B1B1B"/>
                </a:solidFill>
                <a:latin typeface="Poppins Bold"/>
              </a:rPr>
              <a:t>Reorganiza</a:t>
            </a:r>
            <a:r>
              <a:rPr b="0" sz="2700">
                <a:solidFill>
                  <a:srgbClr val="1B1B1B"/>
                </a:solidFill>
                <a:latin typeface="Poppins"/>
              </a:rPr>
              <a:t> las entregas, </a:t>
            </a:r>
            <a:r>
              <a:rPr b="1" sz="2700">
                <a:solidFill>
                  <a:srgbClr val="1B1B1B"/>
                </a:solidFill>
                <a:latin typeface="Poppins Bold"/>
              </a:rPr>
              <a:t>avisa</a:t>
            </a:r>
            <a:r>
              <a:rPr b="0" sz="2700">
                <a:solidFill>
                  <a:srgbClr val="1B1B1B"/>
                </a:solidFill>
                <a:latin typeface="Poppins"/>
              </a:rPr>
              <a:t> a los clientes y </a:t>
            </a:r>
            <a:r>
              <a:rPr b="1" sz="2700">
                <a:solidFill>
                  <a:srgbClr val="1B1B1B"/>
                </a:solidFill>
                <a:latin typeface="Poppins Bold"/>
              </a:rPr>
              <a:t>recuerda</a:t>
            </a:r>
            <a:r>
              <a:rPr b="0" sz="2700">
                <a:solidFill>
                  <a:srgbClr val="1B1B1B"/>
                </a:solidFill>
                <a:latin typeface="Poppins"/>
              </a:rPr>
              <a:t> lo ocurrido.</a:t>
            </a:r>
          </a:p>
          <a:p>
            <a:pPr algn="l" marL="377190" indent="-377190">
              <a:lnSpc>
                <a:spcPct val="112000"/>
              </a:lnSpc>
              <a:spcAft>
                <a:spcPts val="1600"/>
              </a:spcAft>
              <a:buFont typeface="Arial"/>
              <a:buChar char="•"/>
            </a:pPr>
            <a:r>
              <a:rPr b="0" sz="2700">
                <a:solidFill>
                  <a:srgbClr val="1B1B1B"/>
                </a:solidFill>
                <a:latin typeface="Poppins"/>
              </a:rPr>
              <a:t>Pide ayuda a un </a:t>
            </a:r>
            <a:r>
              <a:rPr b="1" sz="2700">
                <a:solidFill>
                  <a:srgbClr val="1B1B1B"/>
                </a:solidFill>
                <a:latin typeface="Poppins Bold"/>
              </a:rPr>
              <a:t>supervisor</a:t>
            </a:r>
            <a:r>
              <a:rPr b="0" sz="2700">
                <a:solidFill>
                  <a:srgbClr val="1B1B1B"/>
                </a:solidFill>
                <a:latin typeface="Poppins"/>
              </a:rPr>
              <a:t> cuando no puede resolver.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8001000"/>
            <a:ext cx="3749039" cy="15544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80467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4000">
                <a:solidFill>
                  <a:srgbClr val="1B1B1B"/>
                </a:solidFill>
                <a:latin typeface="Poppins Bold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88879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000">
                <a:solidFill>
                  <a:srgbClr val="6B6B6B"/>
                </a:solidFill>
                <a:latin typeface="Poppins"/>
              </a:rPr>
              <a:t>camiones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8001000"/>
            <a:ext cx="3749039" cy="15544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80467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4000">
                <a:solidFill>
                  <a:srgbClr val="1B1B1B"/>
                </a:solidFill>
                <a:latin typeface="Poppins Bold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88879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000">
                <a:solidFill>
                  <a:srgbClr val="6B6B6B"/>
                </a:solidFill>
                <a:latin typeface="Poppins"/>
              </a:rPr>
              <a:t>pedidos al día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8001000"/>
            <a:ext cx="3749039" cy="15544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80467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4000">
                <a:solidFill>
                  <a:srgbClr val="1B1B1B"/>
                </a:solidFill>
                <a:latin typeface="Poppins Bold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88879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000">
                <a:solidFill>
                  <a:srgbClr val="6B6B6B"/>
                </a:solidFill>
                <a:latin typeface="Poppins"/>
              </a:rPr>
              <a:t>clientes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33120" y="8001000"/>
            <a:ext cx="3749039" cy="15544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07440" y="804672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4000">
                <a:solidFill>
                  <a:srgbClr val="1B1B1B"/>
                </a:solidFill>
                <a:latin typeface="Poppins Bold"/>
              </a:rPr>
              <a:t>100 %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07440" y="8887968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000">
                <a:solidFill>
                  <a:srgbClr val="6B6B6B"/>
                </a:solidFill>
                <a:latin typeface="Poppins"/>
              </a:rPr>
              <a:t>datos inventados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023292" y="565901"/>
            <a:ext cx="1832950" cy="462799"/>
          </a:xfrm>
          <a:custGeom>
            <a:avLst/>
            <a:gdLst/>
            <a:ahLst/>
            <a:cxnLst/>
            <a:rect r="r" b="b" t="t" l="l"/>
            <a:pathLst>
              <a:path h="462799" w="1832950">
                <a:moveTo>
                  <a:pt x="0" y="0"/>
                </a:moveTo>
                <a:lnTo>
                  <a:pt x="1832950" y="0"/>
                </a:lnTo>
                <a:lnTo>
                  <a:pt x="1832950" y="462799"/>
                </a:lnTo>
                <a:lnTo>
                  <a:pt x="0" y="462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ítulo"/>
          <p:cNvSpPr txBox="1"/>
          <p:nvPr/>
        </p:nvSpPr>
        <p:spPr>
          <a:xfrm>
            <a:off x="2194560" y="713232"/>
            <a:ext cx="137160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sz="5000">
                <a:solidFill>
                  <a:srgbClr val="1B1B1B"/>
                </a:solidFill>
                <a:latin typeface="Poppins Bold"/>
              </a:rPr>
              <a:t>Las piezas del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10241280" cy="7132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Diagrama de arquitectura" descr="arquitectura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743200"/>
            <a:ext cx="9692640" cy="67495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1612880" y="251460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400">
                <a:solidFill>
                  <a:srgbClr val="FFFFFF"/>
                </a:solidFill>
                <a:latin typeface="Poppins 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64440" y="24688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3000">
                <a:solidFill>
                  <a:srgbClr val="1B1B1B"/>
                </a:solidFill>
                <a:latin typeface="Poppins Bold"/>
              </a:rPr>
              <a:t>Panel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64440" y="3200400"/>
            <a:ext cx="4754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200">
                <a:solidFill>
                  <a:srgbClr val="6B6B6B"/>
                </a:solidFill>
                <a:latin typeface="Poppins"/>
              </a:rPr>
              <a:t>El despachador escribe lo que ocurrió.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612880" y="4937759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400">
                <a:solidFill>
                  <a:srgbClr val="FFFFFF"/>
                </a:solidFill>
                <a:latin typeface="Poppins 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4440" y="489204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3000">
                <a:solidFill>
                  <a:srgbClr val="1B1B1B"/>
                </a:solidFill>
                <a:latin typeface="Poppins Bold"/>
              </a:rPr>
              <a:t>Agente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64440" y="5623559"/>
            <a:ext cx="4754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200">
                <a:solidFill>
                  <a:srgbClr val="6B6B6B"/>
                </a:solidFill>
                <a:latin typeface="Poppins"/>
              </a:rPr>
              <a:t>Entiende, recuerda, planifica y avisa.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612880" y="736092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400">
                <a:solidFill>
                  <a:srgbClr val="FFFFFF"/>
                </a:solidFill>
                <a:latin typeface="Poppins 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64440" y="731520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3000">
                <a:solidFill>
                  <a:srgbClr val="1B1B1B"/>
                </a:solidFill>
                <a:latin typeface="Poppins Bold"/>
              </a:rPr>
              <a:t>Apoyos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4440" y="8046720"/>
            <a:ext cx="4754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200">
                <a:solidFill>
                  <a:srgbClr val="6B6B6B"/>
                </a:solidFill>
                <a:latin typeface="Poppins"/>
              </a:rPr>
              <a:t>Herramientas, memoria y modelo de lenguaje.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023292" y="565901"/>
            <a:ext cx="1832950" cy="462799"/>
          </a:xfrm>
          <a:custGeom>
            <a:avLst/>
            <a:gdLst/>
            <a:ahLst/>
            <a:cxnLst/>
            <a:rect r="r" b="b" t="t" l="l"/>
            <a:pathLst>
              <a:path h="462799" w="1832950">
                <a:moveTo>
                  <a:pt x="0" y="0"/>
                </a:moveTo>
                <a:lnTo>
                  <a:pt x="1832950" y="0"/>
                </a:lnTo>
                <a:lnTo>
                  <a:pt x="1832950" y="462799"/>
                </a:lnTo>
                <a:lnTo>
                  <a:pt x="0" y="462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ítulo"/>
          <p:cNvSpPr txBox="1"/>
          <p:nvPr/>
        </p:nvSpPr>
        <p:spPr>
          <a:xfrm>
            <a:off x="2194560" y="713232"/>
            <a:ext cx="137160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sz="5000">
                <a:solidFill>
                  <a:srgbClr val="1B1B1B"/>
                </a:solidFill>
                <a:latin typeface="Poppins Bold"/>
              </a:rPr>
              <a:t>Cómo decide el agente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11521440" cy="5852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Diagrama de flujo" descr="flujo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788920"/>
            <a:ext cx="10424160" cy="51417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2801600" y="2468880"/>
            <a:ext cx="4480560" cy="585216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67360" y="2834640"/>
            <a:ext cx="384048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0"/>
              </a:spcAft>
            </a:pPr>
            <a:r>
              <a:rPr b="0" sz="2600">
                <a:solidFill>
                  <a:srgbClr val="FFFFFF"/>
                </a:solidFill>
                <a:latin typeface="Poppins"/>
              </a:rPr>
              <a:t>La decisión importante la toman </a:t>
            </a:r>
            <a:r>
              <a:rPr b="1" sz="2600">
                <a:solidFill>
                  <a:srgbClr val="FFFFFF"/>
                </a:solidFill>
                <a:latin typeface="Poppins Bold"/>
              </a:rPr>
              <a:t>reglas claras</a:t>
            </a:r>
            <a:r>
              <a:rPr b="0" sz="2600">
                <a:solidFill>
                  <a:srgbClr val="FFFFFF"/>
                </a:solidFill>
                <a:latin typeface="Poppins"/>
              </a:rPr>
              <a:t> y verificables.</a:t>
            </a:r>
          </a:p>
          <a:p>
            <a:pPr algn="l">
              <a:lnSpc>
                <a:spcPct val="112000"/>
              </a:lnSpc>
              <a:spcAft>
                <a:spcPts val="2000"/>
              </a:spcAft>
            </a:pPr>
            <a:r>
              <a:rPr b="0" sz="2600">
                <a:solidFill>
                  <a:srgbClr val="FFFFFF"/>
                </a:solidFill>
                <a:latin typeface="Poppins"/>
              </a:rPr>
              <a:t>La IA solo </a:t>
            </a:r>
            <a:r>
              <a:rPr b="1" sz="2600">
                <a:solidFill>
                  <a:srgbClr val="FFFFFF"/>
                </a:solidFill>
                <a:latin typeface="Poppins Bold"/>
              </a:rPr>
              <a:t>interpreta</a:t>
            </a:r>
            <a:r>
              <a:rPr b="0" sz="2600">
                <a:solidFill>
                  <a:srgbClr val="FFFFFF"/>
                </a:solidFill>
                <a:latin typeface="Poppins"/>
              </a:rPr>
              <a:t> mensajes y </a:t>
            </a:r>
            <a:r>
              <a:rPr b="1" sz="2600">
                <a:solidFill>
                  <a:srgbClr val="FFFFFF"/>
                </a:solidFill>
                <a:latin typeface="Poppins Bold"/>
              </a:rPr>
              <a:t>redacta</a:t>
            </a:r>
            <a:r>
              <a:rPr b="0" sz="2600">
                <a:solidFill>
                  <a:srgbClr val="FFFFFF"/>
                </a:solidFill>
                <a:latin typeface="Poppins"/>
              </a:rPr>
              <a:t> avisos.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8686800"/>
            <a:ext cx="5486400" cy="640080"/>
          </a:xfrm>
          <a:prstGeom prst="roundRect">
            <a:avLst>
              <a:gd name="adj" fmla="val 50000"/>
            </a:avLst>
          </a:prstGeom>
          <a:solidFill>
            <a:srgbClr val="E5A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2000">
                <a:solidFill>
                  <a:srgbClr val="1B1B1B"/>
                </a:solidFill>
                <a:latin typeface="Poppins Bold"/>
              </a:rPr>
              <a:t>Si falta un dato, lo pregunta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8686800"/>
            <a:ext cx="5760720" cy="640080"/>
          </a:xfrm>
          <a:prstGeom prst="roundRect">
            <a:avLst>
              <a:gd name="adj" fmla="val 50000"/>
            </a:avLst>
          </a:prstGeom>
          <a:solidFill>
            <a:srgbClr val="E5A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2000">
                <a:solidFill>
                  <a:srgbClr val="1B1B1B"/>
                </a:solidFill>
                <a:latin typeface="Poppins Bold"/>
              </a:rPr>
              <a:t>Sin solución, avisa a un supervisor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023292" y="565901"/>
            <a:ext cx="1832950" cy="462799"/>
          </a:xfrm>
          <a:custGeom>
            <a:avLst/>
            <a:gdLst/>
            <a:ahLst/>
            <a:cxnLst/>
            <a:rect r="r" b="b" t="t" l="l"/>
            <a:pathLst>
              <a:path h="462799" w="1832950">
                <a:moveTo>
                  <a:pt x="0" y="0"/>
                </a:moveTo>
                <a:lnTo>
                  <a:pt x="1832950" y="0"/>
                </a:lnTo>
                <a:lnTo>
                  <a:pt x="1832950" y="462799"/>
                </a:lnTo>
                <a:lnTo>
                  <a:pt x="0" y="462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ítulo"/>
          <p:cNvSpPr txBox="1"/>
          <p:nvPr/>
        </p:nvSpPr>
        <p:spPr>
          <a:xfrm>
            <a:off x="2194560" y="713232"/>
            <a:ext cx="137160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sz="5000">
                <a:solidFill>
                  <a:srgbClr val="1B1B1B"/>
                </a:solidFill>
                <a:latin typeface="Poppins Bold"/>
              </a:rPr>
              <a:t>Herramientas del agente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2468880"/>
            <a:ext cx="5029200" cy="5897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00200" y="278892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400">
                <a:solidFill>
                  <a:srgbClr val="FFFFFF"/>
                </a:solidFill>
                <a:latin typeface="Poppins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3794760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3400">
                <a:solidFill>
                  <a:srgbClr val="1B1B1B"/>
                </a:solidFill>
                <a:latin typeface="Poppins Bold"/>
              </a:rPr>
              <a:t>Consultar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4709160"/>
            <a:ext cx="42976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63220" indent="-363220">
              <a:lnSpc>
                <a:spcPct val="112000"/>
              </a:lnSpc>
              <a:spcAft>
                <a:spcPts val="1200"/>
              </a:spcAft>
              <a:buFont typeface="Arial"/>
              <a:buChar char="•"/>
            </a:pPr>
            <a:r>
              <a:rPr b="0" sz="2600">
                <a:solidFill>
                  <a:srgbClr val="1B1B1B"/>
                </a:solidFill>
                <a:latin typeface="Poppins"/>
              </a:rPr>
              <a:t>Flota y pedidos del día</a:t>
            </a:r>
          </a:p>
          <a:p>
            <a:pPr algn="l" marL="363220" indent="-363220">
              <a:lnSpc>
                <a:spcPct val="112000"/>
              </a:lnSpc>
              <a:spcAft>
                <a:spcPts val="1200"/>
              </a:spcAft>
              <a:buFont typeface="Arial"/>
              <a:buChar char="•"/>
            </a:pPr>
            <a:r>
              <a:rPr b="0" sz="2600">
                <a:solidFill>
                  <a:srgbClr val="1B1B1B"/>
                </a:solidFill>
                <a:latin typeface="Poppins"/>
              </a:rPr>
              <a:t>Tráfico y perfil del cliente</a:t>
            </a:r>
          </a:p>
          <a:p>
            <a:pPr algn="l" marL="363220" indent="-363220">
              <a:lnSpc>
                <a:spcPct val="112000"/>
              </a:lnSpc>
              <a:spcAft>
                <a:spcPts val="1200"/>
              </a:spcAft>
              <a:buFont typeface="Arial"/>
              <a:buChar char="•"/>
            </a:pPr>
            <a:r>
              <a:rPr b="0" sz="2600">
                <a:solidFill>
                  <a:srgbClr val="1B1B1B"/>
                </a:solidFill>
                <a:latin typeface="Poppins"/>
              </a:rPr>
              <a:t>Casos pasados y políticas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2468880"/>
            <a:ext cx="5029200" cy="5897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0" y="278892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400">
                <a:solidFill>
                  <a:srgbClr val="FFFFFF"/>
                </a:solidFill>
                <a:latin typeface="Poppins 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794760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3400">
                <a:solidFill>
                  <a:srgbClr val="1B1B1B"/>
                </a:solidFill>
                <a:latin typeface="Poppins Bold"/>
              </a:rPr>
              <a:t>Escribir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4709160"/>
            <a:ext cx="42976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63220" indent="-363220">
              <a:lnSpc>
                <a:spcPct val="112000"/>
              </a:lnSpc>
              <a:spcAft>
                <a:spcPts val="1200"/>
              </a:spcAft>
              <a:buFont typeface="Arial"/>
              <a:buChar char="•"/>
            </a:pPr>
            <a:r>
              <a:rPr b="0" sz="2600">
                <a:solidFill>
                  <a:srgbClr val="1B1B1B"/>
                </a:solidFill>
                <a:latin typeface="Poppins"/>
              </a:rPr>
              <a:t>Asignar entregas a camiones</a:t>
            </a:r>
          </a:p>
          <a:p>
            <a:pPr algn="l" marL="363220" indent="-363220">
              <a:lnSpc>
                <a:spcPct val="112000"/>
              </a:lnSpc>
              <a:spcAft>
                <a:spcPts val="1200"/>
              </a:spcAft>
              <a:buFont typeface="Arial"/>
              <a:buChar char="•"/>
            </a:pPr>
            <a:r>
              <a:rPr b="0" sz="2600">
                <a:solidFill>
                  <a:srgbClr val="1B1B1B"/>
                </a:solidFill>
                <a:latin typeface="Poppins"/>
              </a:rPr>
              <a:t>Hojas de ruta y avisos</a:t>
            </a:r>
          </a:p>
          <a:p>
            <a:pPr algn="l" marL="363220" indent="-363220">
              <a:lnSpc>
                <a:spcPct val="112000"/>
              </a:lnSpc>
              <a:spcAft>
                <a:spcPts val="1200"/>
              </a:spcAft>
              <a:buFont typeface="Arial"/>
              <a:buChar char="•"/>
            </a:pPr>
            <a:r>
              <a:rPr b="0" sz="2600">
                <a:solidFill>
                  <a:srgbClr val="1B1B1B"/>
                </a:solidFill>
                <a:latin typeface="Poppins"/>
              </a:rPr>
              <a:t>Registrar lo ocurrido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0080" y="2468880"/>
            <a:ext cx="5029200" cy="5897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481560" y="278892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400">
                <a:solidFill>
                  <a:srgbClr val="FFFFFF"/>
                </a:solidFill>
                <a:latin typeface="Poppins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81560" y="3794760"/>
            <a:ext cx="4206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3400">
                <a:solidFill>
                  <a:srgbClr val="1B1B1B"/>
                </a:solidFill>
                <a:latin typeface="Poppins Bold"/>
              </a:rPr>
              <a:t>Razonar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81560" y="4709160"/>
            <a:ext cx="42976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63220" indent="-363220">
              <a:lnSpc>
                <a:spcPct val="112000"/>
              </a:lnSpc>
              <a:spcAft>
                <a:spcPts val="1200"/>
              </a:spcAft>
              <a:buFont typeface="Arial"/>
              <a:buChar char="•"/>
            </a:pPr>
            <a:r>
              <a:rPr b="0" sz="2600">
                <a:solidFill>
                  <a:srgbClr val="1B1B1B"/>
                </a:solidFill>
                <a:latin typeface="Poppins"/>
              </a:rPr>
              <a:t>Entender el mensaje</a:t>
            </a:r>
          </a:p>
          <a:p>
            <a:pPr algn="l" marL="363220" indent="-363220">
              <a:lnSpc>
                <a:spcPct val="112000"/>
              </a:lnSpc>
              <a:spcAft>
                <a:spcPts val="1200"/>
              </a:spcAft>
              <a:buFont typeface="Arial"/>
              <a:buChar char="•"/>
            </a:pPr>
            <a:r>
              <a:rPr b="0" sz="2600">
                <a:solidFill>
                  <a:srgbClr val="1B1B1B"/>
                </a:solidFill>
                <a:latin typeface="Poppins"/>
              </a:rPr>
              <a:t>Comprobar que camiones y pedidos existen</a:t>
            </a:r>
          </a:p>
          <a:p>
            <a:pPr algn="l" marL="363220" indent="-363220">
              <a:lnSpc>
                <a:spcPct val="112000"/>
              </a:lnSpc>
              <a:spcAft>
                <a:spcPts val="1200"/>
              </a:spcAft>
              <a:buFont typeface="Arial"/>
              <a:buChar char="•"/>
            </a:pPr>
            <a:r>
              <a:rPr b="0" sz="2600">
                <a:solidFill>
                  <a:srgbClr val="1B1B1B"/>
                </a:solidFill>
                <a:latin typeface="Poppins"/>
              </a:rPr>
              <a:t>Redactar avisos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8732520"/>
            <a:ext cx="7680960" cy="685800"/>
          </a:xfrm>
          <a:prstGeom prst="roundRect">
            <a:avLst>
              <a:gd name="adj" fmla="val 50000"/>
            </a:avLst>
          </a:prstGeom>
          <a:solidFill>
            <a:srgbClr val="E5A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2200">
                <a:solidFill>
                  <a:srgbClr val="1B1B1B"/>
                </a:solidFill>
                <a:latin typeface="Poppins Bold"/>
              </a:rPr>
              <a:t>Más de veinte herramientas en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8796528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1900">
                <a:solidFill>
                  <a:srgbClr val="6B6B6B"/>
                </a:solidFill>
                <a:latin typeface="Poppins"/>
              </a:rPr>
              <a:t>Ejemplo: no se asigna una entrega si el camión no soporta el peso.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023292" y="565901"/>
            <a:ext cx="1832950" cy="462799"/>
          </a:xfrm>
          <a:custGeom>
            <a:avLst/>
            <a:gdLst/>
            <a:ahLst/>
            <a:cxnLst/>
            <a:rect r="r" b="b" t="t" l="l"/>
            <a:pathLst>
              <a:path h="462799" w="1832950">
                <a:moveTo>
                  <a:pt x="0" y="0"/>
                </a:moveTo>
                <a:lnTo>
                  <a:pt x="1832950" y="0"/>
                </a:lnTo>
                <a:lnTo>
                  <a:pt x="1832950" y="462799"/>
                </a:lnTo>
                <a:lnTo>
                  <a:pt x="0" y="462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ítulo"/>
          <p:cNvSpPr txBox="1"/>
          <p:nvPr/>
        </p:nvSpPr>
        <p:spPr>
          <a:xfrm>
            <a:off x="2194560" y="713232"/>
            <a:ext cx="137160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sz="5000">
                <a:solidFill>
                  <a:srgbClr val="1B1B1B"/>
                </a:solidFill>
                <a:latin typeface="Poppins Bold"/>
              </a:rPr>
              <a:t>Memoria: corta y larga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786384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2697480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2700">
                <a:solidFill>
                  <a:srgbClr val="E5AE38"/>
                </a:solidFill>
                <a:latin typeface="Poppins Bold"/>
              </a:rPr>
              <a:t>Memoria corta · la jornada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3429000"/>
            <a:ext cx="7132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07340" indent="-307340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b="0" sz="2200">
                <a:solidFill>
                  <a:srgbClr val="1B1B1B"/>
                </a:solidFill>
                <a:latin typeface="Poppins"/>
              </a:rPr>
              <a:t>Guarda lo ocurrido en el día.</a:t>
            </a:r>
          </a:p>
          <a:p>
            <a:pPr algn="l" marL="307340" indent="-307340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b="0" sz="2200">
                <a:solidFill>
                  <a:srgbClr val="1B1B1B"/>
                </a:solidFill>
                <a:latin typeface="Poppins"/>
              </a:rPr>
              <a:t>Sigue ahí aunque se reinicie el programa.</a:t>
            </a:r>
          </a:p>
          <a:p>
            <a:pPr algn="l" marL="307340" indent="-307340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b="0" sz="2200">
                <a:solidFill>
                  <a:srgbClr val="1B1B1B"/>
                </a:solidFill>
                <a:latin typeface="Poppins"/>
              </a:rPr>
              <a:t>Con </a:t>
            </a:r>
            <a:r>
              <a:rPr b="1" sz="2200">
                <a:solidFill>
                  <a:srgbClr val="1B1B1B"/>
                </a:solidFill>
                <a:latin typeface="Poppins Bold"/>
              </a:rPr>
              <a:t>3 cambios</a:t>
            </a:r>
            <a:r>
              <a:rPr b="0" sz="2200">
                <a:solidFill>
                  <a:srgbClr val="1B1B1B"/>
                </a:solidFill>
                <a:latin typeface="Poppins"/>
              </a:rPr>
              <a:t> en un día, avisa que la jornada está inestable.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6172200"/>
            <a:ext cx="786384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6400800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2700">
                <a:solidFill>
                  <a:srgbClr val="E5AE38"/>
                </a:solidFill>
                <a:latin typeface="Poppins Bold"/>
              </a:rPr>
              <a:t>Memoria larga · casos pasados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717804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07340" indent="-307340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b="0" sz="2200">
                <a:solidFill>
                  <a:srgbClr val="1B1B1B"/>
                </a:solidFill>
                <a:latin typeface="Poppins"/>
              </a:rPr>
              <a:t>Busca por </a:t>
            </a:r>
            <a:r>
              <a:rPr b="1" sz="2200">
                <a:solidFill>
                  <a:srgbClr val="1B1B1B"/>
                </a:solidFill>
                <a:latin typeface="Poppins Bold"/>
              </a:rPr>
              <a:t>significado</a:t>
            </a:r>
            <a:r>
              <a:rPr b="0" sz="2200">
                <a:solidFill>
                  <a:srgbClr val="1B1B1B"/>
                </a:solidFill>
                <a:latin typeface="Poppins"/>
              </a:rPr>
              <a:t>, no por palabras exactas.</a:t>
            </a:r>
          </a:p>
          <a:p>
            <a:pPr algn="l" marL="307340" indent="-307340">
              <a:lnSpc>
                <a:spcPct val="112000"/>
              </a:lnSpc>
              <a:spcAft>
                <a:spcPts val="800"/>
              </a:spcAft>
              <a:buFont typeface="Arial"/>
              <a:buChar char="•"/>
            </a:pPr>
            <a:r>
              <a:rPr b="0" sz="2200">
                <a:solidFill>
                  <a:srgbClr val="1B1B1B"/>
                </a:solidFill>
                <a:latin typeface="Poppins"/>
              </a:rPr>
              <a:t>Un caso se acepta si supera el </a:t>
            </a:r>
            <a:r>
              <a:rPr b="1" sz="2200">
                <a:solidFill>
                  <a:srgbClr val="1B1B1B"/>
                </a:solidFill>
                <a:latin typeface="Poppins Bold"/>
              </a:rPr>
              <a:t>60 %</a:t>
            </a:r>
            <a:r>
              <a:rPr b="0" sz="2200">
                <a:solidFill>
                  <a:srgbClr val="1B1B1B"/>
                </a:solidFill>
                <a:latin typeface="Poppins"/>
              </a:rPr>
              <a:t> de parecido.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468880"/>
            <a:ext cx="7863840" cy="6995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38360" y="269748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b="1" sz="2200">
                <a:solidFill>
                  <a:srgbClr val="1B1B1B"/>
                </a:solidFill>
                <a:latin typeface="Poppins Bold"/>
              </a:rPr>
              <a:t>¿Qué tan parecido es un mensaje a un caso pasado?</a:t>
            </a:r>
          </a:p>
        </p:txBody>
      </p:sp>
      <p:graphicFrame>
        <p:nvGraphicFramePr>
          <p:cNvPr id="12" name="Gráfico de similitud"/>
          <p:cNvGraphicFramePr>
            <a:graphicFrameLocks noGrp="1"/>
          </p:cNvGraphicFramePr>
          <p:nvPr/>
        </p:nvGraphicFramePr>
        <p:xfrm>
          <a:off x="9509760" y="3840480"/>
          <a:ext cx="7498079" cy="5394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023292" y="565901"/>
            <a:ext cx="1832950" cy="462799"/>
          </a:xfrm>
          <a:custGeom>
            <a:avLst/>
            <a:gdLst/>
            <a:ahLst/>
            <a:cxnLst/>
            <a:rect r="r" b="b" t="t" l="l"/>
            <a:pathLst>
              <a:path h="462799" w="1832950">
                <a:moveTo>
                  <a:pt x="0" y="0"/>
                </a:moveTo>
                <a:lnTo>
                  <a:pt x="1832950" y="0"/>
                </a:lnTo>
                <a:lnTo>
                  <a:pt x="1832950" y="462799"/>
                </a:lnTo>
                <a:lnTo>
                  <a:pt x="0" y="462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ítulo"/>
          <p:cNvSpPr txBox="1"/>
          <p:nvPr/>
        </p:nvSpPr>
        <p:spPr>
          <a:xfrm>
            <a:off x="2194560" y="713232"/>
            <a:ext cx="137160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sz="5000">
                <a:solidFill>
                  <a:srgbClr val="1B1B1B"/>
                </a:solidFill>
                <a:latin typeface="Poppins Bold"/>
              </a:rPr>
              <a:t>Planificación y decisiones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5669280" cy="704088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27432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3000">
                <a:solidFill>
                  <a:srgbClr val="E5AE38"/>
                </a:solidFill>
                <a:latin typeface="Poppins Bold"/>
              </a:rPr>
              <a:t>Puntaje de urgencia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3703320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63220" indent="-363220">
              <a:lnSpc>
                <a:spcPct val="112000"/>
              </a:lnSpc>
              <a:spcAft>
                <a:spcPts val="1400"/>
              </a:spcAft>
              <a:buFont typeface="Arial"/>
              <a:buChar char="•"/>
            </a:pPr>
            <a:r>
              <a:rPr b="0" sz="2600">
                <a:solidFill>
                  <a:srgbClr val="FFFFFF"/>
                </a:solidFill>
                <a:latin typeface="Poppins"/>
              </a:rPr>
              <a:t>Sube si el cliente es </a:t>
            </a:r>
            <a:r>
              <a:rPr b="1" sz="2600">
                <a:solidFill>
                  <a:srgbClr val="FFFFFF"/>
                </a:solidFill>
                <a:latin typeface="Poppins Bold"/>
              </a:rPr>
              <a:t>VIP</a:t>
            </a:r>
            <a:r>
              <a:rPr b="0" sz="2600">
                <a:solidFill>
                  <a:srgbClr val="FFFFFF"/>
                </a:solidFill>
                <a:latin typeface="Poppins"/>
              </a:rPr>
              <a:t>.</a:t>
            </a:r>
          </a:p>
          <a:p>
            <a:pPr algn="l" marL="363220" indent="-363220">
              <a:lnSpc>
                <a:spcPct val="112000"/>
              </a:lnSpc>
              <a:spcAft>
                <a:spcPts val="1400"/>
              </a:spcAft>
              <a:buFont typeface="Arial"/>
              <a:buChar char="•"/>
            </a:pPr>
            <a:r>
              <a:rPr b="0" sz="2600">
                <a:solidFill>
                  <a:srgbClr val="FFFFFF"/>
                </a:solidFill>
                <a:latin typeface="Poppins"/>
              </a:rPr>
              <a:t>Sube si el pedido tiene </a:t>
            </a:r>
            <a:r>
              <a:rPr b="1" sz="2600">
                <a:solidFill>
                  <a:srgbClr val="FFFFFF"/>
                </a:solidFill>
                <a:latin typeface="Poppins Bold"/>
              </a:rPr>
              <a:t>prioridad alta</a:t>
            </a:r>
            <a:r>
              <a:rPr b="0" sz="2600">
                <a:solidFill>
                  <a:srgbClr val="FFFFFF"/>
                </a:solidFill>
                <a:latin typeface="Poppins"/>
              </a:rPr>
              <a:t>.</a:t>
            </a:r>
          </a:p>
          <a:p>
            <a:pPr algn="l" marL="363220" indent="-363220">
              <a:lnSpc>
                <a:spcPct val="112000"/>
              </a:lnSpc>
              <a:spcAft>
                <a:spcPts val="1400"/>
              </a:spcAft>
              <a:buFont typeface="Arial"/>
              <a:buChar char="•"/>
            </a:pPr>
            <a:r>
              <a:rPr b="0" sz="2600">
                <a:solidFill>
                  <a:srgbClr val="FFFFFF"/>
                </a:solidFill>
                <a:latin typeface="Poppins"/>
              </a:rPr>
              <a:t>Sube si queda </a:t>
            </a:r>
            <a:r>
              <a:rPr b="1" sz="2600">
                <a:solidFill>
                  <a:srgbClr val="FFFFFF"/>
                </a:solidFill>
                <a:latin typeface="Poppins Bold"/>
              </a:rPr>
              <a:t>poco tiempo</a:t>
            </a:r>
            <a:r>
              <a:rPr b="0" sz="2600">
                <a:solidFill>
                  <a:srgbClr val="FFFFFF"/>
                </a:solidFill>
                <a:latin typeface="Poppins"/>
              </a:rPr>
              <a:t> en su ventana horaria.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7772400"/>
            <a:ext cx="4937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400">
                <a:solidFill>
                  <a:srgbClr val="FFFFFF"/>
                </a:solidFill>
                <a:latin typeface="Poppins"/>
              </a:rPr>
              <a:t>Nunca se supera el </a:t>
            </a:r>
            <a:r>
              <a:rPr b="1" sz="2400">
                <a:solidFill>
                  <a:srgbClr val="FFFFFF"/>
                </a:solidFill>
                <a:latin typeface="Poppins Bold"/>
              </a:rPr>
              <a:t>peso máximo</a:t>
            </a:r>
            <a:r>
              <a:rPr b="0" sz="2400">
                <a:solidFill>
                  <a:srgbClr val="FFFFFF"/>
                </a:solidFill>
                <a:latin typeface="Poppins"/>
              </a:rPr>
              <a:t> de un camión.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2468880"/>
          <a:ext cx="10058400" cy="6876287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6949440"/>
              </a:tblGrid>
              <a:tr h="1024127">
                <a:tc>
                  <a:txBody>
                    <a:bodyPr wrap="square"/>
                    <a:lstStyle/>
                    <a:p>
                      <a:r>
                        <a:rPr b="1" sz="2200">
                          <a:solidFill>
                            <a:srgbClr val="FFFFFF"/>
                          </a:solidFill>
                          <a:latin typeface="Poppins Bold"/>
                        </a:rPr>
                        <a:t>Situación</a:t>
                      </a:r>
                    </a:p>
                  </a:txBody>
                  <a:tcPr marL="164592" marR="164592" marT="54864" marB="54864" anchor="ctr">
                    <a:solidFill>
                      <a:srgbClr val="1B1B1B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200">
                          <a:solidFill>
                            <a:srgbClr val="FFFFFF"/>
                          </a:solidFill>
                          <a:latin typeface="Poppins Bold"/>
                        </a:rPr>
                        <a:t>Qué hace el agente</a:t>
                      </a:r>
                    </a:p>
                  </a:txBody>
                  <a:tcPr marL="164592" marR="164592" marT="54864" marB="54864" anchor="ctr">
                    <a:solidFill>
                      <a:srgbClr val="1B1B1B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r>
                        <a:rPr b="1" sz="2200">
                          <a:solidFill>
                            <a:srgbClr val="1B1B1B"/>
                          </a:solidFill>
                          <a:latin typeface="Poppins Bold"/>
                        </a:rPr>
                        <a:t>Avería de un camión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200">
                          <a:solidFill>
                            <a:srgbClr val="1B1B1B"/>
                          </a:solidFill>
                          <a:latin typeface="Poppins"/>
                        </a:rPr>
                        <a:t>Lo saca del plan, reparte sus entregas y avisa a los clientes.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r>
                        <a:rPr b="1" sz="2200">
                          <a:solidFill>
                            <a:srgbClr val="1B1B1B"/>
                          </a:solidFill>
                          <a:latin typeface="Poppins Bold"/>
                        </a:rPr>
                        <a:t>Cliente VIP urgente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200">
                          <a:solidFill>
                            <a:srgbClr val="1B1B1B"/>
                          </a:solidFill>
                          <a:latin typeface="Poppins"/>
                        </a:rPr>
                        <a:t>Sube el pedido a prioridad máxima y reordena la ruta.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r>
                        <a:rPr b="1" sz="2200">
                          <a:solidFill>
                            <a:srgbClr val="1B1B1B"/>
                          </a:solidFill>
                          <a:latin typeface="Poppins Bold"/>
                        </a:rPr>
                        <a:t>Entrega fallida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200">
                          <a:solidFill>
                            <a:srgbClr val="1B1B1B"/>
                          </a:solidFill>
                          <a:latin typeface="Poppins"/>
                        </a:rPr>
                        <a:t>1.ª vez: reintenta. 2.ª vez: pasa al supervisor.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</a:tr>
              <a:tr h="1463040">
                <a:tc>
                  <a:txBody>
                    <a:bodyPr wrap="square"/>
                    <a:lstStyle/>
                    <a:p>
                      <a:r>
                        <a:rPr b="1" sz="2200">
                          <a:solidFill>
                            <a:srgbClr val="1B1B1B"/>
                          </a:solidFill>
                          <a:latin typeface="Poppins Bold"/>
                        </a:rPr>
                        <a:t>Mensaje confuso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200">
                          <a:solidFill>
                            <a:srgbClr val="1B1B1B"/>
                          </a:solidFill>
                          <a:latin typeface="Poppins"/>
                        </a:rPr>
                        <a:t>Pide el dato que falta. No inventa información.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023292" y="565901"/>
            <a:ext cx="1832950" cy="462799"/>
          </a:xfrm>
          <a:custGeom>
            <a:avLst/>
            <a:gdLst/>
            <a:ahLst/>
            <a:cxnLst/>
            <a:rect r="r" b="b" t="t" l="l"/>
            <a:pathLst>
              <a:path h="462799" w="1832950">
                <a:moveTo>
                  <a:pt x="0" y="0"/>
                </a:moveTo>
                <a:lnTo>
                  <a:pt x="1832950" y="0"/>
                </a:lnTo>
                <a:lnTo>
                  <a:pt x="1832950" y="462799"/>
                </a:lnTo>
                <a:lnTo>
                  <a:pt x="0" y="462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ítulo"/>
          <p:cNvSpPr txBox="1"/>
          <p:nvPr/>
        </p:nvSpPr>
        <p:spPr>
          <a:xfrm>
            <a:off x="2194560" y="713232"/>
            <a:ext cx="137160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sz="5000">
                <a:solidFill>
                  <a:srgbClr val="1B1B1B"/>
                </a:solidFill>
                <a:latin typeface="Poppins Bold"/>
              </a:rPr>
              <a:t>Demostración en vivo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7223760" cy="12801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25880" y="2724912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400">
                <a:solidFill>
                  <a:srgbClr val="FFFFFF"/>
                </a:solidFill>
                <a:latin typeface="Poppins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596896"/>
            <a:ext cx="5760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2600">
                <a:solidFill>
                  <a:srgbClr val="1B1B1B"/>
                </a:solidFill>
                <a:latin typeface="Poppins Bold"/>
              </a:rPr>
              <a:t>Inicio de jornada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182112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1900">
                <a:solidFill>
                  <a:srgbClr val="6B6B6B"/>
                </a:solidFill>
                <a:latin typeface="Poppins"/>
              </a:rPr>
              <a:t>Planifica los 25 pedidos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913632"/>
            <a:ext cx="7223760" cy="12801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25880" y="4169664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400">
                <a:solidFill>
                  <a:srgbClr val="FFFFFF"/>
                </a:solidFill>
                <a:latin typeface="Poppins 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041648"/>
            <a:ext cx="5760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2600">
                <a:solidFill>
                  <a:srgbClr val="1B1B1B"/>
                </a:solidFill>
                <a:latin typeface="Poppins Bold"/>
              </a:rPr>
              <a:t>Avería del camión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62686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1900">
                <a:solidFill>
                  <a:srgbClr val="6B6B6B"/>
                </a:solidFill>
                <a:latin typeface="Poppins"/>
              </a:rPr>
              <a:t>Reasigna sus entregas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358384"/>
            <a:ext cx="7223760" cy="12801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25880" y="5614416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400">
                <a:solidFill>
                  <a:srgbClr val="FFFFFF"/>
                </a:solidFill>
                <a:latin typeface="Poppins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486400"/>
            <a:ext cx="5760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2600">
                <a:solidFill>
                  <a:srgbClr val="1B1B1B"/>
                </a:solidFill>
                <a:latin typeface="Poppins Bold"/>
              </a:rPr>
              <a:t>Cliente VIP urgente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6071616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1900">
                <a:solidFill>
                  <a:srgbClr val="6B6B6B"/>
                </a:solidFill>
                <a:latin typeface="Poppins"/>
              </a:rPr>
              <a:t>Pedido 14 antes de las 12:00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6803136"/>
            <a:ext cx="7223760" cy="12801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25880" y="7059168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400">
                <a:solidFill>
                  <a:srgbClr val="FFFFFF"/>
                </a:solidFill>
                <a:latin typeface="Poppins 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6931152"/>
            <a:ext cx="5760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2600">
                <a:solidFill>
                  <a:srgbClr val="1B1B1B"/>
                </a:solidFill>
                <a:latin typeface="Poppins Bold"/>
              </a:rPr>
              <a:t>Entrega fallida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7516368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1900">
                <a:solidFill>
                  <a:srgbClr val="6B6B6B"/>
                </a:solidFill>
                <a:latin typeface="Poppins"/>
              </a:rPr>
              <a:t>Reintento y escalamiento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8247888"/>
            <a:ext cx="7223760" cy="12801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25880" y="8503919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400">
                <a:solidFill>
                  <a:srgbClr val="FFFFFF"/>
                </a:solidFill>
                <a:latin typeface="Poppins 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8375904"/>
            <a:ext cx="5760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2600">
                <a:solidFill>
                  <a:srgbClr val="1B1B1B"/>
                </a:solidFill>
                <a:latin typeface="Poppins Bold"/>
              </a:rPr>
              <a:t>Mensaje confuso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8961119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1900">
                <a:solidFill>
                  <a:srgbClr val="6B6B6B"/>
                </a:solidFill>
                <a:latin typeface="Poppins"/>
              </a:rPr>
              <a:t>Pide datos; no inventa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2468880"/>
            <a:ext cx="8503920" cy="6812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Captura del panel" descr="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651760"/>
            <a:ext cx="8138160" cy="57068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69680" y="864108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b="0" sz="1600">
                <a:solidFill>
                  <a:srgbClr val="6B6B6B"/>
                </a:solidFill>
                <a:latin typeface="Poppins"/>
              </a:rPr>
              <a:t>Panel web del agente (captura real)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023292" y="565901"/>
            <a:ext cx="1832950" cy="462799"/>
          </a:xfrm>
          <a:custGeom>
            <a:avLst/>
            <a:gdLst/>
            <a:ahLst/>
            <a:cxnLst/>
            <a:rect r="r" b="b" t="t" l="l"/>
            <a:pathLst>
              <a:path h="462799" w="1832950">
                <a:moveTo>
                  <a:pt x="0" y="0"/>
                </a:moveTo>
                <a:lnTo>
                  <a:pt x="1832950" y="0"/>
                </a:lnTo>
                <a:lnTo>
                  <a:pt x="1832950" y="462799"/>
                </a:lnTo>
                <a:lnTo>
                  <a:pt x="0" y="462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ítulo"/>
          <p:cNvSpPr txBox="1"/>
          <p:nvPr/>
        </p:nvSpPr>
        <p:spPr>
          <a:xfrm>
            <a:off x="2194560" y="713232"/>
            <a:ext cx="137160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sz="5000">
                <a:solidFill>
                  <a:srgbClr val="1B1B1B"/>
                </a:solidFill>
                <a:latin typeface="Poppins Bold"/>
              </a:rPr>
              <a:t>Resultados y pruebas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3840480" cy="324612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19" y="260604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6600">
                <a:solidFill>
                  <a:srgbClr val="E5AE38"/>
                </a:solidFill>
                <a:latin typeface="Poppins Bold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411480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000">
                <a:solidFill>
                  <a:srgbClr val="FFFFFF"/>
                </a:solidFill>
                <a:latin typeface="Poppins"/>
              </a:rPr>
              <a:t>pruebas automáticas, todas pasan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2468880"/>
            <a:ext cx="384048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32120" y="260604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6600">
                <a:solidFill>
                  <a:srgbClr val="1B1B1B"/>
                </a:solidFill>
                <a:latin typeface="Poppins Bold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411480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000">
                <a:solidFill>
                  <a:srgbClr val="6B6B6B"/>
                </a:solidFill>
                <a:latin typeface="Poppins"/>
              </a:rPr>
              <a:t>escenarios con evidencia paso a paso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2468880"/>
            <a:ext cx="384048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19" y="260604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6600">
                <a:solidFill>
                  <a:srgbClr val="1B1B1B"/>
                </a:solidFill>
                <a:latin typeface="Poppins Bold"/>
              </a:rPr>
              <a:t>20+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19" y="411480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000">
                <a:solidFill>
                  <a:srgbClr val="6B6B6B"/>
                </a:solidFill>
                <a:latin typeface="Poppins"/>
              </a:rPr>
              <a:t>herramientas del agente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441680" y="2468880"/>
            <a:ext cx="384048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61719" y="260604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6600">
                <a:solidFill>
                  <a:srgbClr val="1B1B1B"/>
                </a:solidFill>
                <a:latin typeface="Poppins Bold"/>
              </a:rP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61719" y="411480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000">
                <a:solidFill>
                  <a:srgbClr val="6B6B6B"/>
                </a:solidFill>
                <a:latin typeface="Poppins"/>
              </a:rPr>
              <a:t>costo: todo gratuito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97280" y="6080760"/>
          <a:ext cx="16093440" cy="331561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11887200"/>
              </a:tblGrid>
              <a:tr h="627278">
                <a:tc>
                  <a:txBody>
                    <a:bodyPr wrap="square"/>
                    <a:lstStyle/>
                    <a:p>
                      <a:r>
                        <a:rPr b="1" sz="2100">
                          <a:solidFill>
                            <a:srgbClr val="FFFFFF"/>
                          </a:solidFill>
                          <a:latin typeface="Poppins Bold"/>
                        </a:rPr>
                        <a:t>Escenario</a:t>
                      </a:r>
                    </a:p>
                  </a:txBody>
                  <a:tcPr marL="164592" marR="164592" marT="54864" marB="54864" anchor="ctr">
                    <a:solidFill>
                      <a:srgbClr val="1B1B1B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100">
                          <a:solidFill>
                            <a:srgbClr val="FFFFFF"/>
                          </a:solidFill>
                          <a:latin typeface="Poppins Bold"/>
                        </a:rPr>
                        <a:t>Resultado comprobado</a:t>
                      </a:r>
                    </a:p>
                  </a:txBody>
                  <a:tcPr marL="164592" marR="164592" marT="54864" marB="54864" anchor="ctr">
                    <a:solidFill>
                      <a:srgbClr val="1B1B1B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b="1" sz="2100">
                          <a:solidFill>
                            <a:srgbClr val="1B1B1B"/>
                          </a:solidFill>
                          <a:latin typeface="Poppins Bold"/>
                        </a:rPr>
                        <a:t>Avería a las 11:00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100">
                          <a:solidFill>
                            <a:srgbClr val="1B1B1B"/>
                          </a:solidFill>
                          <a:latin typeface="Poppins"/>
                        </a:rPr>
                        <a:t>9 entregas hechas, 16 reasignadas y ninguna en el camión averiado.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b="1" sz="2100">
                          <a:solidFill>
                            <a:srgbClr val="1B1B1B"/>
                          </a:solidFill>
                          <a:latin typeface="Poppins Bold"/>
                        </a:rPr>
                        <a:t>Cliente VIP urgente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100">
                          <a:solidFill>
                            <a:srgbClr val="1B1B1B"/>
                          </a:solidFill>
                          <a:latin typeface="Poppins"/>
                        </a:rPr>
                        <a:t>El pedido 14 llega a las 12:00, dentro de su hora límite.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b="1" sz="2100">
                          <a:solidFill>
                            <a:srgbClr val="1B1B1B"/>
                          </a:solidFill>
                          <a:latin typeface="Poppins Bold"/>
                        </a:rPr>
                        <a:t>Entrega fallida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100">
                          <a:solidFill>
                            <a:srgbClr val="1B1B1B"/>
                          </a:solidFill>
                          <a:latin typeface="Poppins"/>
                        </a:rPr>
                        <a:t>1.er fallo: reintento. 2.º fallo: pasa a un supervisor.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023292" y="565901"/>
            <a:ext cx="1832950" cy="462799"/>
          </a:xfrm>
          <a:custGeom>
            <a:avLst/>
            <a:gdLst/>
            <a:ahLst/>
            <a:cxnLst/>
            <a:rect r="r" b="b" t="t" l="l"/>
            <a:pathLst>
              <a:path h="462799" w="1832950">
                <a:moveTo>
                  <a:pt x="0" y="0"/>
                </a:moveTo>
                <a:lnTo>
                  <a:pt x="1832950" y="0"/>
                </a:lnTo>
                <a:lnTo>
                  <a:pt x="1832950" y="462799"/>
                </a:lnTo>
                <a:lnTo>
                  <a:pt x="0" y="462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ítulo"/>
          <p:cNvSpPr txBox="1"/>
          <p:nvPr/>
        </p:nvSpPr>
        <p:spPr>
          <a:xfrm>
            <a:off x="2194560" y="713232"/>
            <a:ext cx="137160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sz="5000">
                <a:solidFill>
                  <a:srgbClr val="1B1B1B"/>
                </a:solidFill>
                <a:latin typeface="Poppins Bold"/>
              </a:rPr>
              <a:t>Un hallazgo que cambió el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159105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b="1" sz="3000">
                <a:solidFill>
                  <a:srgbClr val="1B1B1B"/>
                </a:solidFill>
                <a:latin typeface="Poppins Bold"/>
              </a:rPr>
              <a:t>Mensaje: «Cliente ausente en el pedido 8»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337560"/>
            <a:ext cx="73152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3520440"/>
            <a:ext cx="6492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2600">
                <a:solidFill>
                  <a:srgbClr val="D64545"/>
                </a:solidFill>
                <a:latin typeface="Poppins Bold"/>
              </a:rPr>
              <a:t>Modelo pequeño (IA sola)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4297680"/>
            <a:ext cx="6492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300">
                <a:solidFill>
                  <a:srgbClr val="1B1B1B"/>
                </a:solidFill>
                <a:latin typeface="Poppins"/>
              </a:rPr>
              <a:t>Entendió: </a:t>
            </a:r>
            <a:r>
              <a:rPr b="1" sz="2300">
                <a:solidFill>
                  <a:srgbClr val="1B1B1B"/>
                </a:solidFill>
                <a:latin typeface="Poppins Bold"/>
              </a:rPr>
              <a:t>«inicio de jornada»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300">
                <a:solidFill>
                  <a:srgbClr val="1B1B1B"/>
                </a:solidFill>
                <a:latin typeface="Poppins"/>
              </a:rPr>
              <a:t>Habría replanificado todo el día.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337560"/>
            <a:ext cx="73152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95560" y="3520440"/>
            <a:ext cx="6492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2600">
                <a:solidFill>
                  <a:srgbClr val="2E9E5B"/>
                </a:solidFill>
                <a:latin typeface="Poppins Bold"/>
              </a:rPr>
              <a:t>Con reglas de 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4297680"/>
            <a:ext cx="6492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300">
                <a:solidFill>
                  <a:srgbClr val="1B1B1B"/>
                </a:solidFill>
                <a:latin typeface="Poppins"/>
              </a:rPr>
              <a:t>Entendió: </a:t>
            </a:r>
            <a:r>
              <a:rPr b="1" sz="2300">
                <a:solidFill>
                  <a:srgbClr val="1B1B1B"/>
                </a:solidFill>
                <a:latin typeface="Poppins Bold"/>
              </a:rPr>
              <a:t>«entrega fallida»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300">
                <a:solidFill>
                  <a:srgbClr val="1B1B1B"/>
                </a:solidFill>
                <a:latin typeface="Poppins"/>
              </a:rPr>
              <a:t>Solo reprograma ese pedido.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4343400"/>
            <a:ext cx="1188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b="1" sz="4800">
                <a:solidFill>
                  <a:srgbClr val="1B1B1B"/>
                </a:solidFill>
                <a:latin typeface="Poppins Bol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6629400"/>
            <a:ext cx="5029200" cy="28346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08760" y="6858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Poppins 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7772400"/>
            <a:ext cx="4480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100">
                <a:solidFill>
                  <a:srgbClr val="1B1B1B"/>
                </a:solidFill>
                <a:latin typeface="Poppins"/>
              </a:rPr>
              <a:t>Las reglas claras tienen prioridad sobre la 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6629400"/>
            <a:ext cx="5029200" cy="28346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6858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Poppins 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7772400"/>
            <a:ext cx="4480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100">
                <a:solidFill>
                  <a:srgbClr val="1B1B1B"/>
                </a:solidFill>
                <a:latin typeface="Poppins"/>
              </a:rPr>
              <a:t>Se comprueba que los camiones y pedidos existan.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0" y="6629400"/>
            <a:ext cx="5029200" cy="28346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390120" y="685800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2200">
                <a:solidFill>
                  <a:srgbClr val="FFFFFF"/>
                </a:solidFill>
                <a:latin typeface="Poppins 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90120" y="7772400"/>
            <a:ext cx="4480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0" sz="2100">
                <a:solidFill>
                  <a:srgbClr val="1B1B1B"/>
                </a:solidFill>
                <a:latin typeface="Poppins"/>
              </a:rPr>
              <a:t>Los avisos de la IA se revisan antes de enviarse.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023292" y="565901"/>
            <a:ext cx="1832950" cy="462799"/>
          </a:xfrm>
          <a:custGeom>
            <a:avLst/>
            <a:gdLst/>
            <a:ahLst/>
            <a:cxnLst/>
            <a:rect r="r" b="b" t="t" l="l"/>
            <a:pathLst>
              <a:path h="462799" w="1832950">
                <a:moveTo>
                  <a:pt x="0" y="0"/>
                </a:moveTo>
                <a:lnTo>
                  <a:pt x="1832950" y="0"/>
                </a:lnTo>
                <a:lnTo>
                  <a:pt x="1832950" y="462799"/>
                </a:lnTo>
                <a:lnTo>
                  <a:pt x="0" y="462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ítulo"/>
          <p:cNvSpPr txBox="1"/>
          <p:nvPr/>
        </p:nvSpPr>
        <p:spPr>
          <a:xfrm>
            <a:off x="2194560" y="713232"/>
            <a:ext cx="137160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sz="5000">
                <a:solidFill>
                  <a:srgbClr val="1B1B1B"/>
                </a:solidFill>
                <a:latin typeface="Poppins Bold"/>
              </a:rPr>
              <a:t>¿Por qué estos componentes?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2468880"/>
          <a:ext cx="16093440" cy="677570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480560"/>
                <a:gridCol w="11612880"/>
              </a:tblGrid>
              <a:tr h="832103">
                <a:tc>
                  <a:txBody>
                    <a:bodyPr wrap="square"/>
                    <a:lstStyle/>
                    <a:p>
                      <a:r>
                        <a:rPr b="1" sz="2100">
                          <a:solidFill>
                            <a:srgbClr val="FFFFFF"/>
                          </a:solidFill>
                          <a:latin typeface="Poppins Bold"/>
                        </a:rPr>
                        <a:t>Componente</a:t>
                      </a:r>
                    </a:p>
                  </a:txBody>
                  <a:tcPr marL="164592" marR="164592" marT="54864" marB="54864" anchor="ctr">
                    <a:solidFill>
                      <a:srgbClr val="1B1B1B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100">
                          <a:solidFill>
                            <a:srgbClr val="FFFFFF"/>
                          </a:solidFill>
                          <a:latin typeface="Poppins Bold"/>
                        </a:rPr>
                        <a:t>Dato que lo respalda</a:t>
                      </a:r>
                    </a:p>
                  </a:txBody>
                  <a:tcPr marL="164592" marR="164592" marT="54864" marB="54864" anchor="ctr">
                    <a:solidFill>
                      <a:srgbClr val="1B1B1B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r>
                        <a:rPr b="1" sz="2100">
                          <a:solidFill>
                            <a:srgbClr val="1B1B1B"/>
                          </a:solidFill>
                          <a:latin typeface="Poppins Bold"/>
                        </a:rPr>
                        <a:t>LangGraph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100">
                          <a:solidFill>
                            <a:srgbClr val="1B1B1B"/>
                          </a:solidFill>
                          <a:latin typeface="Poppins"/>
                        </a:rPr>
                        <a:t>El flujo tiene 4 decisiones y su estado se conserva si se reinicia el programa.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r>
                        <a:rPr b="1" sz="2100">
                          <a:solidFill>
                            <a:srgbClr val="1B1B1B"/>
                          </a:solidFill>
                          <a:latin typeface="Poppins Bold"/>
                        </a:rPr>
                        <a:t>Reglas + IA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100">
                          <a:solidFill>
                            <a:srgbClr val="1B1B1B"/>
                          </a:solidFill>
                          <a:latin typeface="Poppins"/>
                        </a:rPr>
                        <a:t>El modelo pequeño confundió un mensaje; las reglas lo corrigieron.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r>
                        <a:rPr b="1" sz="2100">
                          <a:solidFill>
                            <a:srgbClr val="1B1B1B"/>
                          </a:solidFill>
                          <a:latin typeface="Poppins Bold"/>
                        </a:rPr>
                        <a:t>Groq y Ollama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100">
                          <a:solidFill>
                            <a:srgbClr val="1B1B1B"/>
                          </a:solidFill>
                          <a:latin typeface="Poppins"/>
                        </a:rPr>
                        <a:t>El computador tiene 7,9 GB y no tiene tarjeta gráfica: se usa la nube o un modelo pequeño.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r>
                        <a:rPr b="1" sz="2100">
                          <a:solidFill>
                            <a:srgbClr val="1B1B1B"/>
                          </a:solidFill>
                          <a:latin typeface="Poppins Bold"/>
                        </a:rPr>
                        <a:t>Memoria por significado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100">
                          <a:solidFill>
                            <a:srgbClr val="1B1B1B"/>
                          </a:solidFill>
                          <a:latin typeface="Poppins"/>
                        </a:rPr>
                        <a:t>Casos parecidos: 57 % a 77 %. Texto sin relación: 54 %. Umbral: 60 %.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r>
                        <a:rPr b="1" sz="2100">
                          <a:solidFill>
                            <a:srgbClr val="1B1B1B"/>
                          </a:solidFill>
                          <a:latin typeface="Poppins Bold"/>
                        </a:rPr>
                        <a:t>Bases de datos livianas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100">
                          <a:solidFill>
                            <a:srgbClr val="1B1B1B"/>
                          </a:solidFill>
                          <a:latin typeface="Poppins"/>
                        </a:rPr>
                        <a:t>SQLite y ChromaDB funcionan en cualquier computador, sin servidores.</a:t>
                      </a:r>
                    </a:p>
                  </a:txBody>
                  <a:tcPr marL="164592" marR="164592" marT="54864" marB="54864" anchor="ctr">
                    <a:solidFill>
                      <a:srgbClr val="FFFFFF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023292" y="565901"/>
            <a:ext cx="1832950" cy="462799"/>
          </a:xfrm>
          <a:custGeom>
            <a:avLst/>
            <a:gdLst/>
            <a:ahLst/>
            <a:cxnLst/>
            <a:rect r="r" b="b" t="t" l="l"/>
            <a:pathLst>
              <a:path h="462799" w="1832950">
                <a:moveTo>
                  <a:pt x="0" y="0"/>
                </a:moveTo>
                <a:lnTo>
                  <a:pt x="1832950" y="0"/>
                </a:lnTo>
                <a:lnTo>
                  <a:pt x="1832950" y="462799"/>
                </a:lnTo>
                <a:lnTo>
                  <a:pt x="0" y="462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id="3" name="Título"/>
          <p:cNvSpPr txBox="1"/>
          <p:nvPr/>
        </p:nvSpPr>
        <p:spPr>
          <a:xfrm>
            <a:off x="2194560" y="713232"/>
            <a:ext cx="137160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sz="5000">
                <a:solidFill>
                  <a:srgbClr val="1B1B1B"/>
                </a:solidFill>
                <a:latin typeface="Poppins Bold"/>
              </a:rPr>
              <a:t>Límites y próximos pasos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2468880"/>
            <a:ext cx="7680960" cy="6766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274320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3200">
                <a:solidFill>
                  <a:srgbClr val="E5AE38"/>
                </a:solidFill>
                <a:latin typeface="Poppins Bold"/>
              </a:rPr>
              <a:t>Límites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3794760"/>
            <a:ext cx="685800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405130" indent="-405130">
              <a:lnSpc>
                <a:spcPct val="112000"/>
              </a:lnSpc>
              <a:spcAft>
                <a:spcPts val="1800"/>
              </a:spcAft>
              <a:buFont typeface="Arial"/>
              <a:buChar char="•"/>
            </a:pPr>
            <a:r>
              <a:rPr b="0" sz="2900">
                <a:solidFill>
                  <a:srgbClr val="1B1B1B"/>
                </a:solidFill>
                <a:latin typeface="Poppins"/>
              </a:rPr>
              <a:t>Datos, mapas y tráfico </a:t>
            </a:r>
            <a:r>
              <a:rPr b="1" sz="2900">
                <a:solidFill>
                  <a:srgbClr val="1B1B1B"/>
                </a:solidFill>
                <a:latin typeface="Poppins Bold"/>
              </a:rPr>
              <a:t>simulados</a:t>
            </a:r>
            <a:r>
              <a:rPr b="0" sz="2900">
                <a:solidFill>
                  <a:srgbClr val="1B1B1B"/>
                </a:solidFill>
                <a:latin typeface="Poppins"/>
              </a:rPr>
              <a:t>.</a:t>
            </a:r>
          </a:p>
          <a:p>
            <a:pPr algn="l" marL="405130" indent="-405130">
              <a:lnSpc>
                <a:spcPct val="112000"/>
              </a:lnSpc>
              <a:spcAft>
                <a:spcPts val="1800"/>
              </a:spcAft>
              <a:buFont typeface="Arial"/>
              <a:buChar char="•"/>
            </a:pPr>
            <a:r>
              <a:rPr b="0" sz="2900">
                <a:solidFill>
                  <a:srgbClr val="1B1B1B"/>
                </a:solidFill>
                <a:latin typeface="Poppins"/>
              </a:rPr>
              <a:t>Cada camión hace </a:t>
            </a:r>
            <a:r>
              <a:rPr b="1" sz="2900">
                <a:solidFill>
                  <a:srgbClr val="1B1B1B"/>
                </a:solidFill>
                <a:latin typeface="Poppins Bold"/>
              </a:rPr>
              <a:t>una sola carga</a:t>
            </a:r>
            <a:r>
              <a:rPr b="0" sz="2900">
                <a:solidFill>
                  <a:srgbClr val="1B1B1B"/>
                </a:solidFill>
                <a:latin typeface="Poppins"/>
              </a:rPr>
              <a:t> al día.</a:t>
            </a:r>
          </a:p>
          <a:p>
            <a:pPr algn="l" marL="405130" indent="-405130">
              <a:lnSpc>
                <a:spcPct val="112000"/>
              </a:lnSpc>
              <a:spcAft>
                <a:spcPts val="1800"/>
              </a:spcAft>
              <a:buFont typeface="Arial"/>
              <a:buChar char="•"/>
            </a:pPr>
            <a:r>
              <a:rPr b="0" sz="2900">
                <a:solidFill>
                  <a:srgbClr val="1B1B1B"/>
                </a:solidFill>
                <a:latin typeface="Poppins"/>
              </a:rPr>
              <a:t>Los avisos a clientes </a:t>
            </a:r>
            <a:r>
              <a:rPr b="1" sz="2900">
                <a:solidFill>
                  <a:srgbClr val="1B1B1B"/>
                </a:solidFill>
                <a:latin typeface="Poppins Bold"/>
              </a:rPr>
              <a:t>se simulan</a:t>
            </a:r>
            <a:r>
              <a:rPr b="0" sz="2900">
                <a:solidFill>
                  <a:srgbClr val="1B1B1B"/>
                </a:solidFill>
                <a:latin typeface="Poppins"/>
              </a:rPr>
              <a:t>.</a:t>
            </a:r>
          </a:p>
          <a:p>
            <a:pPr algn="l" marL="405130" indent="-405130">
              <a:lnSpc>
                <a:spcPct val="112000"/>
              </a:lnSpc>
              <a:spcAft>
                <a:spcPts val="1800"/>
              </a:spcAft>
              <a:buFont typeface="Arial"/>
              <a:buChar char="•"/>
            </a:pPr>
            <a:r>
              <a:rPr b="0" sz="2900">
                <a:solidFill>
                  <a:srgbClr val="1B1B1B"/>
                </a:solidFill>
                <a:latin typeface="Poppins"/>
              </a:rPr>
              <a:t>El modelo pequeño usa mal las herramientas.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2468880"/>
            <a:ext cx="7680960" cy="6766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4320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b="1" sz="3200">
                <a:solidFill>
                  <a:srgbClr val="E5AE38"/>
                </a:solidFill>
                <a:latin typeface="Poppins Bold"/>
              </a:rPr>
              <a:t>Próximos pasos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3794760"/>
            <a:ext cx="685800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405130" indent="-405130">
              <a:lnSpc>
                <a:spcPct val="112000"/>
              </a:lnSpc>
              <a:spcAft>
                <a:spcPts val="1800"/>
              </a:spcAft>
              <a:buFont typeface="Arial"/>
              <a:buChar char="•"/>
            </a:pPr>
            <a:r>
              <a:rPr b="0" sz="2900">
                <a:solidFill>
                  <a:srgbClr val="1B1B1B"/>
                </a:solidFill>
                <a:latin typeface="Poppins"/>
              </a:rPr>
              <a:t>Conectar </a:t>
            </a:r>
            <a:r>
              <a:rPr b="1" sz="2900">
                <a:solidFill>
                  <a:srgbClr val="1B1B1B"/>
                </a:solidFill>
                <a:latin typeface="Poppins Bold"/>
              </a:rPr>
              <a:t>mapas y tráfico reales</a:t>
            </a:r>
            <a:r>
              <a:rPr b="0" sz="2900">
                <a:solidFill>
                  <a:srgbClr val="1B1B1B"/>
                </a:solidFill>
                <a:latin typeface="Poppins"/>
              </a:rPr>
              <a:t>.</a:t>
            </a:r>
          </a:p>
          <a:p>
            <a:pPr algn="l" marL="405130" indent="-405130">
              <a:lnSpc>
                <a:spcPct val="112000"/>
              </a:lnSpc>
              <a:spcAft>
                <a:spcPts val="1800"/>
              </a:spcAft>
              <a:buFont typeface="Arial"/>
              <a:buChar char="•"/>
            </a:pPr>
            <a:r>
              <a:rPr b="0" sz="2900">
                <a:solidFill>
                  <a:srgbClr val="1B1B1B"/>
                </a:solidFill>
                <a:latin typeface="Poppins"/>
              </a:rPr>
              <a:t>Enviar avisos reales por </a:t>
            </a:r>
            <a:r>
              <a:rPr b="1" sz="2900">
                <a:solidFill>
                  <a:srgbClr val="1B1B1B"/>
                </a:solidFill>
                <a:latin typeface="Poppins Bold"/>
              </a:rPr>
              <a:t>correo o mensaje</a:t>
            </a:r>
            <a:r>
              <a:rPr b="0" sz="2900">
                <a:solidFill>
                  <a:srgbClr val="1B1B1B"/>
                </a:solidFill>
                <a:latin typeface="Poppins"/>
              </a:rPr>
              <a:t>.</a:t>
            </a:r>
          </a:p>
          <a:p>
            <a:pPr algn="l" marL="405130" indent="-405130">
              <a:lnSpc>
                <a:spcPct val="112000"/>
              </a:lnSpc>
              <a:spcAft>
                <a:spcPts val="1800"/>
              </a:spcAft>
              <a:buFont typeface="Arial"/>
              <a:buChar char="•"/>
            </a:pPr>
            <a:r>
              <a:rPr b="0" sz="2900">
                <a:solidFill>
                  <a:srgbClr val="1B1B1B"/>
                </a:solidFill>
                <a:latin typeface="Poppins"/>
              </a:rPr>
              <a:t>Usar un </a:t>
            </a:r>
            <a:r>
              <a:rPr b="1" sz="2900">
                <a:solidFill>
                  <a:srgbClr val="1B1B1B"/>
                </a:solidFill>
                <a:latin typeface="Poppins Bold"/>
              </a:rPr>
              <a:t>modelo más grande</a:t>
            </a:r>
            <a:r>
              <a:rPr b="0" sz="2900">
                <a:solidFill>
                  <a:srgbClr val="1B1B1B"/>
                </a:solidFill>
                <a:latin typeface="Poppins"/>
              </a:rPr>
              <a:t> (Groq).</a:t>
            </a:r>
          </a:p>
          <a:p>
            <a:pPr algn="l" marL="405130" indent="-405130">
              <a:lnSpc>
                <a:spcPct val="112000"/>
              </a:lnSpc>
              <a:spcAft>
                <a:spcPts val="1800"/>
              </a:spcAft>
              <a:buFont typeface="Arial"/>
              <a:buChar char="•"/>
            </a:pPr>
            <a:r>
              <a:rPr b="0" sz="2900">
                <a:solidFill>
                  <a:srgbClr val="1B1B1B"/>
                </a:solidFill>
                <a:latin typeface="Poppins"/>
              </a:rPr>
              <a:t>Probar con </a:t>
            </a:r>
            <a:r>
              <a:rPr b="1" sz="2900">
                <a:solidFill>
                  <a:srgbClr val="1B1B1B"/>
                </a:solidFill>
                <a:latin typeface="Poppins Bold"/>
              </a:rPr>
              <a:t>datos reales</a:t>
            </a:r>
            <a:r>
              <a:rPr b="0" sz="2900">
                <a:solidFill>
                  <a:srgbClr val="1B1B1B"/>
                </a:solidFill>
                <a:latin typeface="Poppins"/>
              </a:rPr>
              <a:t> de una empresa.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DAHNWxeknio</dc:identifier>
  <dcterms:modified xsi:type="dcterms:W3CDTF">2011-08-01T06:04:30Z</dcterms:modified>
  <cp:revision>1</cp:revision>
  <dc:title>Purple Black 3D Illustration Advanced Artificial Intelligence Presentation</dc:title>
</cp:coreProperties>
</file>